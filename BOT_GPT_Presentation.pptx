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828800"/>
            <a:ext cx="3657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BOT 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BD5E1"/>
                </a:solidFill>
                <a:latin typeface="Segoe UI"/>
              </a:defRPr>
            </a:pPr>
            <a:r>
              <a:t>AI-Powered Conversational Backend with RAG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8BDF8"/>
                </a:solidFill>
                <a:latin typeface="Segoe UI"/>
              </a:defRPr>
            </a:pPr>
            <a:r>
              <a:t>FastAPI  •  LangChain  •  Mistral AI  •  FAISS  •  SQLite  • 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640080" cy="411480"/>
          </a:xfrm>
          <a:prstGeom prst="roundRect">
            <a:avLst>
              <a:gd name="adj" fmla="val 1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79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579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640080" cy="411480"/>
          </a:xfrm>
          <a:prstGeom prst="roundRect">
            <a:avLst>
              <a:gd name="adj" fmla="val 1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91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91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640080" cy="411480"/>
          </a:xfrm>
          <a:prstGeom prst="roundRect">
            <a:avLst>
              <a:gd name="adj" fmla="val 1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402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02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88920"/>
            <a:ext cx="640080" cy="411480"/>
          </a:xfrm>
          <a:prstGeom prst="roundRect">
            <a:avLst>
              <a:gd name="adj" fmla="val 1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81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1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00400"/>
            <a:ext cx="640080" cy="411480"/>
          </a:xfrm>
          <a:prstGeom prst="roundRect">
            <a:avLst>
              <a:gd name="adj" fmla="val 1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225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2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Data Model &amp; Storage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640080" cy="411480"/>
          </a:xfrm>
          <a:prstGeom prst="roundRect">
            <a:avLst>
              <a:gd name="adj" fmla="val 1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637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63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RAG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640080" cy="411480"/>
          </a:xfrm>
          <a:prstGeom prst="roundRect">
            <a:avLst>
              <a:gd name="adj" fmla="val 1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048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048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API Surface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34840"/>
            <a:ext cx="640080" cy="411480"/>
          </a:xfrm>
          <a:prstGeom prst="roundRect">
            <a:avLst>
              <a:gd name="adj" fmla="val 1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46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460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Streamlit Frontend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846320"/>
            <a:ext cx="640080" cy="411480"/>
          </a:xfrm>
          <a:prstGeom prst="roundRect">
            <a:avLst>
              <a:gd name="adj" fmla="val 1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871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871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Token Management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257800"/>
            <a:ext cx="640080" cy="411480"/>
          </a:xfrm>
          <a:prstGeom prst="roundRect">
            <a:avLst>
              <a:gd name="adj" fmla="val 1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528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283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Deployment &amp; CI/CD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669280"/>
            <a:ext cx="640080" cy="411480"/>
          </a:xfrm>
          <a:prstGeom prst="roundRect">
            <a:avLst>
              <a:gd name="adj" fmla="val 1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694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694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Scalability Roadmap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6080760"/>
            <a:ext cx="640080" cy="411480"/>
          </a:xfrm>
          <a:prstGeom prst="roundRect">
            <a:avLst>
              <a:gd name="adj" fmla="val 1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6106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610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Segoe UI"/>
              </a:defRPr>
            </a:pPr>
            <a:r>
              <a:t>What BOT GPT is and why it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27432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BOT GPT is a production-oriented conversational AI backend that combines open-ended chat with Retrieval-Augmented Generation (RAG). Users can upload documents, ask questions, and receive answers grounded in their own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5029200" cy="36576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4480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Provide dual chat modes: Open &amp; RAG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Persist full conversation history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Ground answers in user-uploaded documents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Clean layered architecture for maintainability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Token-aware context management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Easy local setup &amp; Docker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029200" cy="36576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2743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Segoe UI"/>
              </a:defRPr>
            </a:pPr>
            <a:r>
              <a:t>Target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200400"/>
            <a:ext cx="4480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Developers building AI chat applications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Teams needing document Q&amp;A systems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Researchers exploring RAG pipelines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Organizations wanting private document search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MVP / prototype deployments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15544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Open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Free-form conversation with Mistral LLM, full history persistence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371600"/>
            <a:ext cx="3474720" cy="15544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9159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Segoe UI"/>
              </a:defRPr>
            </a:pPr>
            <a:r>
              <a:t>RAG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59" y="19202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Answers grounded in user-uploaded documents via vector retrieval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8" y="1371600"/>
            <a:ext cx="3474720" cy="15544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58198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Segoe UI"/>
              </a:defRPr>
            </a:pPr>
            <a:r>
              <a:t>Document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198" y="19202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Upload PDF, DOCX, TXT, MD, CSV, JSON – auto-chunked &amp; indexed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3474720" cy="15544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337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Vector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490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FAISS-powered semantic similarity search with user-scoped filtering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3200400"/>
            <a:ext cx="3474720" cy="15544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59" y="3337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Last-10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7490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Hard cap: only last 10 messages sent to LLM, preventing context overflow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8" y="3200400"/>
            <a:ext cx="3474720" cy="15544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198" y="3337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Segoe UI"/>
              </a:defRPr>
            </a:pPr>
            <a:r>
              <a:t>Structured Errors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198" y="37490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Consistent JSON error contract across all endpoints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Segoe UI"/>
              </a:defRPr>
            </a:pPr>
            <a:r>
              <a:t>Layered design with clear separation of concerns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27432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Architecture – Component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005840"/>
            <a:ext cx="9418320" cy="9144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1051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Streamlit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630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Browser-based chat &amp; document upload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103120"/>
            <a:ext cx="9418320" cy="9144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8CF8"/>
                </a:solidFill>
                <a:latin typeface="Segoe UI"/>
              </a:defRPr>
            </a:pPr>
            <a:r>
              <a:t>FastAPI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5603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REST endpoints: /users, /conversations, /documents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200400"/>
            <a:ext cx="9418320" cy="9144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Segoe UI"/>
              </a:defRPr>
            </a:pPr>
            <a:r>
              <a:t>Service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ConversationService, DocumentService, RAGService, LLMService, ContextManager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297680"/>
            <a:ext cx="9418320" cy="9144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Segoe UI"/>
              </a:defRPr>
            </a:pPr>
            <a:r>
              <a:t>Data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7548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SQLite (SQLAlchemy ORM)  +  FAISS Vector Store (LangChain)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394960"/>
            <a:ext cx="9418320" cy="9144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0" y="5440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2B6"/>
                </a:solidFill>
                <a:latin typeface="Segoe UI"/>
              </a:defRPr>
            </a:pPr>
            <a:r>
              <a:t>External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8521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Mistral AI API (Chat Completion + Embeddings)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828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023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5120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Backend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FastAPI + Uvicorn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High-performance async Python web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37160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LLM 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874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Mistral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688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Chat completion &amp; embedding generation via LangChain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Vector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FAISS (faiss-cpu)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688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Facebook AI Similarity Search for nearest-neighbour retrieval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37160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874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LangChain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4688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Prompt building, embedding pipelines, local FAISS wrapper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SQLite + SQLAlchemy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Lightweight relational storage with ORM models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93192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Streamlit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0292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Rapid Python-based interactive web 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93192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File Parsing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pypdf, python-docx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0292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Extract text from PDF and DOCX uploads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393192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Containerization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Docker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0292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Reproducible builds and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 Model &amp;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Dual storage strategy: relational (SQLite) for entities + vector (FAISS) for semantic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SQLite (Relational)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480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users — id (UUID), email, created_at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conversations — id, user_id, mode (OPEN|RAG), summary, is_active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messages — id, conversation_id, role, content, token_count, seq#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documents — id, user_id, title, created_at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document_chunks — id, document_id, chunk_index (metadata only)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Segoe UI"/>
              </a:defRPr>
            </a:pPr>
            <a:r>
              <a:t>FAISS Vector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480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Persisted as index.faiss + index.pkl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Each vector stores: chunk text (page_content)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Metadata: user_id, document_id, chunk_id, chunk_index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1024-dimensional embeddings (Mistral)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Similarity search with user_id filter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8BDF8"/>
                </a:solidFill>
                <a:latin typeface="Segoe UI"/>
              </a:rPr>
              <a:t>●  </a:t>
            </a:r>
            <a:r>
              <a:rPr sz="1400">
                <a:solidFill>
                  <a:srgbClr val="CBD5E1"/>
                </a:solidFill>
                <a:latin typeface="Segoe UI"/>
              </a:rPr>
              <a:t>Chunk text stored ONLY in vector store (not in SQL)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RAG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Segoe UI"/>
              </a:defRPr>
            </a:pPr>
            <a:r>
              <a:t>Retrieval-Augmented Generation flow from query to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27432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Document Ingestion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417320" cy="47548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0120" y="16459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733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234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User uploads file (PDF, DOCX, TXT, etc.) or raw text via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1463040"/>
            <a:ext cx="1417320" cy="47548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60320" y="16459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16733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3774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926080"/>
            <a:ext cx="1234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Service layer extracts text content from the uploaded 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40" y="1463040"/>
            <a:ext cx="1417320" cy="47548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160520" y="16459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6733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3774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926080"/>
            <a:ext cx="1234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Verify user exists &amp; content is non-empty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1463040"/>
            <a:ext cx="1417320" cy="47548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760720" y="16459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0" y="16733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3774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Chunk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926080"/>
            <a:ext cx="1234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RecursiveCharacterTextSplitter splits text (700 chars, 100 overlap)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1463040"/>
            <a:ext cx="1417320" cy="47548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60920" y="16459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16733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3774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Embed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926080"/>
            <a:ext cx="1234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EmbeddingService generates 1024-dim vectors via Mistral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9640" y="1463040"/>
            <a:ext cx="1417320" cy="47548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61120" y="16459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0" y="16733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23774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Index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2926080"/>
            <a:ext cx="1234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Vectors + metadata upserted into FAISS local store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9840" y="1463040"/>
            <a:ext cx="1417320" cy="47548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61320" y="16459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561320" y="16733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23774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Persist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2926080"/>
            <a:ext cx="1234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Document &amp; chunk metadata committed to SQLite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RAG Chat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05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30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User sends message to conversation (mode=RAG)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38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39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893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Message persisted to SQLite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968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6222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4769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User query embedded via Mistral Embeddings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28066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0606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FAISS similarity search (top-k=6) filtered by user_id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13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939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644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Retrieved chunks deduplicated &amp; budget-trimmed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572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597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622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Last 10 messages selected as conversation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230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255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28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System prompt built with RAG context + recent history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8887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9141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93953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Mistral LLM generates grounded response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65471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65725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659790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Assistant message persisted &amp; returned to user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API Endpoints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502920"/>
          </a:xfrm>
          <a:prstGeom prst="roundRect">
            <a:avLst>
              <a:gd name="adj" fmla="val 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8988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898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898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10515600" cy="457200"/>
          </a:xfrm>
          <a:prstGeom prst="roundRect">
            <a:avLst>
              <a:gd name="adj" fmla="val 1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786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9786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/users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786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Create user or return existing for 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10515600" cy="457200"/>
          </a:xfrm>
          <a:prstGeom prst="roundRect">
            <a:avLst>
              <a:gd name="adj" fmla="val 1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4815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4815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/users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815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List users with pagination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71800"/>
            <a:ext cx="10515600" cy="457200"/>
          </a:xfrm>
          <a:prstGeom prst="roundRect">
            <a:avLst>
              <a:gd name="adj" fmla="val 1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9845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9845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/conversations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845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Create conversation (OPEN or RAG mode)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10515600" cy="457200"/>
          </a:xfrm>
          <a:prstGeom prst="roundRect">
            <a:avLst>
              <a:gd name="adj" fmla="val 1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4874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4874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/conversations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874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List active conversations for a user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77640"/>
            <a:ext cx="10515600" cy="457200"/>
          </a:xfrm>
          <a:prstGeom prst="roundRect">
            <a:avLst>
              <a:gd name="adj" fmla="val 1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9903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9903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/conversations/{id}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9903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Get conversation with all messages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480560"/>
            <a:ext cx="10515600" cy="457200"/>
          </a:xfrm>
          <a:prstGeom prst="roundRect">
            <a:avLst>
              <a:gd name="adj" fmla="val 1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4932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4932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/conversations/{id}/messages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4932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Send message &amp; get AI response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983480"/>
            <a:ext cx="10515600" cy="457200"/>
          </a:xfrm>
          <a:prstGeom prst="roundRect">
            <a:avLst>
              <a:gd name="adj" fmla="val 1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9961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DELETE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9961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/conversations/{id}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9961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Soft-delete conversation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486400"/>
            <a:ext cx="10515600" cy="457200"/>
          </a:xfrm>
          <a:prstGeom prst="roundRect">
            <a:avLst>
              <a:gd name="adj" fmla="val 1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4991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4991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/documents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4991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Upload raw text for indexing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989320"/>
            <a:ext cx="10515600" cy="457200"/>
          </a:xfrm>
          <a:prstGeom prst="roundRect">
            <a:avLst>
              <a:gd name="adj" fmla="val 1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60020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60020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/documents/upload-file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60020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Upload file (PDF/DOCX/TXT/…) for indexing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Streamlit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Interactive browser-based UI powered by Streamlit, communicating with the FastAPI backend via HTTP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66160" cy="41148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User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Create new users with email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List and select existing users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User context maintained in sidebar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566160" cy="41148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8CF8"/>
                </a:solidFill>
                <a:latin typeface="Segoe UI"/>
              </a:defRPr>
            </a:pPr>
            <a:r>
              <a:t>Conversations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4688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Create OPEN or RAG conversations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Real-time chat with message history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Delete conversations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Paginated conversation listing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566160" cy="41148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Segoe UI"/>
              </a:defRPr>
            </a:pPr>
            <a:r>
              <a:t>Document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4688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Upload PDF, DOCX, TXT, MD, CSV, JSON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Automatic text extraction &amp; chunking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Vector indexing for RAG retrieval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Direct file upload via multipart 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Context &amp; Token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Only the last 10 messages are passed as context to the LLM in both OPEN and RAG modes, preventing token-limit and context-window issues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651760" cy="38404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Last-10 Hard 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dirty="0">
                <a:solidFill>
                  <a:srgbClr val="38BDF8"/>
                </a:solidFill>
                <a:latin typeface="Segoe UI"/>
              </a:rPr>
              <a:t>●  </a:t>
            </a:r>
            <a:r>
              <a:rPr sz="1400" dirty="0">
                <a:solidFill>
                  <a:srgbClr val="CBD5E1"/>
                </a:solidFill>
                <a:latin typeface="Segoe UI"/>
              </a:rPr>
              <a:t>Only the last 10 messages sent to LLM</a:t>
            </a:r>
          </a:p>
          <a:p>
            <a:pPr>
              <a:spcAft>
                <a:spcPts val="800"/>
              </a:spcAft>
            </a:pPr>
            <a:r>
              <a:rPr sz="1200" dirty="0">
                <a:solidFill>
                  <a:srgbClr val="38BDF8"/>
                </a:solidFill>
                <a:latin typeface="Segoe UI"/>
              </a:rPr>
              <a:t>●  </a:t>
            </a:r>
            <a:r>
              <a:rPr sz="1400" dirty="0">
                <a:solidFill>
                  <a:srgbClr val="CBD5E1"/>
                </a:solidFill>
                <a:latin typeface="Segoe UI"/>
              </a:rPr>
              <a:t>Configurable via </a:t>
            </a:r>
            <a:r>
              <a:rPr sz="1400" dirty="0" err="1">
                <a:solidFill>
                  <a:srgbClr val="CBD5E1"/>
                </a:solidFill>
                <a:latin typeface="Segoe UI"/>
              </a:rPr>
              <a:t>max_history_messages</a:t>
            </a:r>
            <a:endParaRPr sz="1400" dirty="0">
              <a:solidFill>
                <a:srgbClr val="CBD5E1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200" dirty="0">
                <a:solidFill>
                  <a:srgbClr val="38BDF8"/>
                </a:solidFill>
                <a:latin typeface="Segoe UI"/>
              </a:rPr>
              <a:t>●  </a:t>
            </a:r>
            <a:r>
              <a:rPr sz="1400" dirty="0">
                <a:solidFill>
                  <a:srgbClr val="CBD5E1"/>
                </a:solidFill>
                <a:latin typeface="Segoe UI"/>
              </a:rPr>
              <a:t>Applies to both OPEN and RAG modes</a:t>
            </a:r>
          </a:p>
          <a:p>
            <a:pPr>
              <a:spcAft>
                <a:spcPts val="800"/>
              </a:spcAft>
            </a:pPr>
            <a:r>
              <a:rPr sz="1200" dirty="0">
                <a:solidFill>
                  <a:srgbClr val="38BDF8"/>
                </a:solidFill>
                <a:latin typeface="Segoe UI"/>
              </a:rPr>
              <a:t>●  </a:t>
            </a:r>
            <a:r>
              <a:rPr sz="1400" dirty="0">
                <a:solidFill>
                  <a:srgbClr val="CBD5E1"/>
                </a:solidFill>
                <a:latin typeface="Segoe UI"/>
              </a:rPr>
              <a:t>Older history preserved in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011680"/>
            <a:ext cx="2651760" cy="38404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Segoe UI"/>
              </a:defRPr>
            </a:pPr>
            <a:r>
              <a:t>Token Estimation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92608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dirty="0">
                <a:solidFill>
                  <a:srgbClr val="38BDF8"/>
                </a:solidFill>
                <a:latin typeface="Segoe UI"/>
              </a:rPr>
              <a:t>●  </a:t>
            </a:r>
            <a:r>
              <a:rPr sz="1400" dirty="0">
                <a:solidFill>
                  <a:srgbClr val="CBD5E1"/>
                </a:solidFill>
                <a:latin typeface="Segoe UI"/>
              </a:rPr>
              <a:t>Formula: int(words × 1.3) + 1</a:t>
            </a:r>
          </a:p>
          <a:p>
            <a:pPr>
              <a:spcAft>
                <a:spcPts val="800"/>
              </a:spcAft>
            </a:pPr>
            <a:r>
              <a:rPr sz="1200" dirty="0">
                <a:solidFill>
                  <a:srgbClr val="38BDF8"/>
                </a:solidFill>
                <a:latin typeface="Segoe UI"/>
              </a:rPr>
              <a:t>●  </a:t>
            </a:r>
            <a:r>
              <a:rPr sz="1400" dirty="0">
                <a:solidFill>
                  <a:srgbClr val="CBD5E1"/>
                </a:solidFill>
                <a:latin typeface="Segoe UI"/>
              </a:rPr>
              <a:t>Applied to every message before storage</a:t>
            </a:r>
          </a:p>
          <a:p>
            <a:pPr>
              <a:spcAft>
                <a:spcPts val="800"/>
              </a:spcAft>
            </a:pPr>
            <a:r>
              <a:rPr sz="1200" dirty="0">
                <a:solidFill>
                  <a:srgbClr val="38BDF8"/>
                </a:solidFill>
                <a:latin typeface="Segoe UI"/>
              </a:rPr>
              <a:t>●  </a:t>
            </a:r>
            <a:r>
              <a:rPr sz="1400" dirty="0">
                <a:solidFill>
                  <a:srgbClr val="CBD5E1"/>
                </a:solidFill>
                <a:latin typeface="Segoe UI"/>
              </a:rPr>
              <a:t>Lightweight — no tokenizer dependency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2651760" cy="38404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Segoe UI"/>
              </a:defRPr>
            </a:pPr>
            <a:r>
              <a:t>RAG Chunk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92608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dirty="0">
                <a:solidFill>
                  <a:srgbClr val="38BDF8"/>
                </a:solidFill>
                <a:latin typeface="Segoe UI"/>
              </a:rPr>
              <a:t>●  </a:t>
            </a:r>
            <a:r>
              <a:rPr sz="1400" dirty="0">
                <a:solidFill>
                  <a:srgbClr val="CBD5E1"/>
                </a:solidFill>
                <a:latin typeface="Segoe UI"/>
              </a:rPr>
              <a:t>Retrieved chunks capped at 1,600 tokens</a:t>
            </a:r>
          </a:p>
          <a:p>
            <a:pPr>
              <a:spcAft>
                <a:spcPts val="800"/>
              </a:spcAft>
            </a:pPr>
            <a:r>
              <a:rPr sz="1200" dirty="0">
                <a:solidFill>
                  <a:srgbClr val="38BDF8"/>
                </a:solidFill>
                <a:latin typeface="Segoe UI"/>
              </a:rPr>
              <a:t>●  </a:t>
            </a:r>
            <a:r>
              <a:rPr sz="1400" dirty="0">
                <a:solidFill>
                  <a:srgbClr val="CBD5E1"/>
                </a:solidFill>
                <a:latin typeface="Segoe UI"/>
              </a:rPr>
              <a:t>Deduplicated before injection</a:t>
            </a:r>
          </a:p>
          <a:p>
            <a:pPr>
              <a:spcAft>
                <a:spcPts val="800"/>
              </a:spcAft>
            </a:pPr>
            <a:r>
              <a:rPr sz="1200" dirty="0">
                <a:solidFill>
                  <a:srgbClr val="38BDF8"/>
                </a:solidFill>
                <a:latin typeface="Segoe UI"/>
              </a:rPr>
              <a:t>●  </a:t>
            </a:r>
            <a:r>
              <a:rPr sz="1400" dirty="0">
                <a:solidFill>
                  <a:srgbClr val="CBD5E1"/>
                </a:solidFill>
                <a:latin typeface="Segoe UI"/>
              </a:rPr>
              <a:t>Separate from conversation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011680"/>
            <a:ext cx="2651760" cy="38404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260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Future: Summarization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92608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dirty="0">
                <a:solidFill>
                  <a:srgbClr val="38BDF8"/>
                </a:solidFill>
                <a:latin typeface="Segoe UI"/>
              </a:rPr>
              <a:t>●  </a:t>
            </a:r>
            <a:r>
              <a:rPr sz="1400" dirty="0">
                <a:solidFill>
                  <a:srgbClr val="CBD5E1"/>
                </a:solidFill>
                <a:latin typeface="Segoe UI"/>
              </a:rPr>
              <a:t>Summarize messages beyond last 10</a:t>
            </a:r>
          </a:p>
          <a:p>
            <a:pPr>
              <a:spcAft>
                <a:spcPts val="800"/>
              </a:spcAft>
            </a:pPr>
            <a:r>
              <a:rPr sz="1200" dirty="0">
                <a:solidFill>
                  <a:srgbClr val="38BDF8"/>
                </a:solidFill>
                <a:latin typeface="Segoe UI"/>
              </a:rPr>
              <a:t>●  </a:t>
            </a:r>
            <a:r>
              <a:rPr sz="1400" dirty="0">
                <a:solidFill>
                  <a:srgbClr val="CBD5E1"/>
                </a:solidFill>
                <a:latin typeface="Segoe UI"/>
              </a:rPr>
              <a:t>Inject summary as system context</a:t>
            </a:r>
          </a:p>
          <a:p>
            <a:pPr>
              <a:spcAft>
                <a:spcPts val="800"/>
              </a:spcAft>
            </a:pPr>
            <a:r>
              <a:rPr sz="1200" dirty="0">
                <a:solidFill>
                  <a:srgbClr val="38BDF8"/>
                </a:solidFill>
                <a:latin typeface="Segoe UI"/>
              </a:rPr>
              <a:t>●  </a:t>
            </a:r>
            <a:r>
              <a:rPr sz="1400" dirty="0">
                <a:solidFill>
                  <a:srgbClr val="CBD5E1"/>
                </a:solidFill>
                <a:latin typeface="Segoe UI"/>
              </a:rPr>
              <a:t>Full history awareness, no overflow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Deployment &amp; CI/CD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7548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Local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480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python -m venv .venv &amp;&amp; activate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pip install -r requirements.txt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uvicorn app.main:app --reload  (port 8000)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streamlit run streamlit_app.py  (port 8501)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Environment: .env file with BOTGPT_ prefix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pytest -q for test 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029200" cy="47548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Segoe UI"/>
              </a:defRPr>
            </a:pPr>
            <a:r>
              <a:t>Docker &amp; 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480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docker build -t bot-gpt 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docker run -p 8000:8000 bot-gpt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GitHub Actions CI pipeline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Automated testing on push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Reproducible containerized builds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●  </a:t>
            </a:r>
            <a:r>
              <a:rPr sz="1500">
                <a:solidFill>
                  <a:srgbClr val="CBD5E1"/>
                </a:solidFill>
                <a:latin typeface="Segoe UI"/>
              </a:rPr>
              <a:t>Single Dockerfile for backend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Scalability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Segoe UI"/>
              </a:defRPr>
            </a:pPr>
            <a:r>
              <a:t>Now (MVP)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●  </a:t>
            </a:r>
            <a:r>
              <a:rPr sz="1600">
                <a:solidFill>
                  <a:srgbClr val="CBD5E1"/>
                </a:solidFill>
                <a:latin typeface="Segoe UI"/>
              </a:rPr>
              <a:t>SQLite for relational data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●  </a:t>
            </a:r>
            <a:r>
              <a:rPr sz="1600">
                <a:solidFill>
                  <a:srgbClr val="CBD5E1"/>
                </a:solidFill>
                <a:latin typeface="Segoe UI"/>
              </a:rPr>
              <a:t>Local FAISS for vector search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●  </a:t>
            </a:r>
            <a:r>
              <a:rPr sz="1600">
                <a:solidFill>
                  <a:srgbClr val="CBD5E1"/>
                </a:solidFill>
                <a:latin typeface="Segoe UI"/>
              </a:rPr>
              <a:t>Last-10 messages context cap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●  </a:t>
            </a:r>
            <a:r>
              <a:rPr sz="1600">
                <a:solidFill>
                  <a:srgbClr val="CBD5E1"/>
                </a:solidFill>
                <a:latin typeface="Segoe UI"/>
              </a:rPr>
              <a:t>Single-process Uvicorn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●  </a:t>
            </a:r>
            <a:r>
              <a:rPr sz="1600">
                <a:solidFill>
                  <a:srgbClr val="CBD5E1"/>
                </a:solidFill>
                <a:latin typeface="Segoe UI"/>
              </a:rPr>
              <a:t>Streamlit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18CF8"/>
                </a:solidFill>
                <a:latin typeface="Segoe UI"/>
              </a:defRPr>
            </a:pPr>
            <a:r>
              <a:t>Near-term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10312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●  </a:t>
            </a:r>
            <a:r>
              <a:rPr sz="1600">
                <a:solidFill>
                  <a:srgbClr val="CBD5E1"/>
                </a:solidFill>
                <a:latin typeface="Segoe UI"/>
              </a:rPr>
              <a:t>Summarize old chat history for full context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●  </a:t>
            </a:r>
            <a:r>
              <a:rPr sz="1600">
                <a:solidFill>
                  <a:srgbClr val="CBD5E1"/>
                </a:solidFill>
                <a:latin typeface="Segoe UI"/>
              </a:rPr>
              <a:t>Custom prompts per user / conversation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●  </a:t>
            </a:r>
            <a:r>
              <a:rPr sz="1600">
                <a:solidFill>
                  <a:srgbClr val="CBD5E1"/>
                </a:solidFill>
                <a:latin typeface="Segoe UI"/>
              </a:rPr>
              <a:t>Hybrid search: keyword + semantic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●  </a:t>
            </a:r>
            <a:r>
              <a:rPr sz="1600">
                <a:solidFill>
                  <a:srgbClr val="CBD5E1"/>
                </a:solidFill>
                <a:latin typeface="Segoe UI"/>
              </a:rPr>
              <a:t>Migrate to PostgreSQL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●  </a:t>
            </a:r>
            <a:r>
              <a:rPr sz="1600">
                <a:solidFill>
                  <a:srgbClr val="CBD5E1"/>
                </a:solidFill>
                <a:latin typeface="Segoe UI"/>
              </a:rPr>
              <a:t>Add authentication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Segoe UI"/>
              </a:defRPr>
            </a:pPr>
            <a:r>
              <a:t>Future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0312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●  </a:t>
            </a:r>
            <a:r>
              <a:rPr sz="1600">
                <a:solidFill>
                  <a:srgbClr val="CBD5E1"/>
                </a:solidFill>
                <a:latin typeface="Segoe UI"/>
              </a:rPr>
              <a:t>Streaming LLM responses (token-by-token)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●  </a:t>
            </a:r>
            <a:r>
              <a:rPr sz="1600">
                <a:solidFill>
                  <a:srgbClr val="CBD5E1"/>
                </a:solidFill>
                <a:latin typeface="Segoe UI"/>
              </a:rPr>
              <a:t>Multi-model support (GPT, Claude, etc.)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●  </a:t>
            </a:r>
            <a:r>
              <a:rPr sz="1600">
                <a:solidFill>
                  <a:srgbClr val="CBD5E1"/>
                </a:solidFill>
                <a:latin typeface="Segoe UI"/>
              </a:rPr>
              <a:t>Cross-encoder re-ranking for RAG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●  </a:t>
            </a:r>
            <a:r>
              <a:rPr sz="1600">
                <a:solidFill>
                  <a:srgbClr val="CBD5E1"/>
                </a:solidFill>
                <a:latin typeface="Segoe UI"/>
              </a:rPr>
              <a:t>Managed vector DB (Pinecone / Weaviate)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●  </a:t>
            </a:r>
            <a:r>
              <a:rPr sz="1600">
                <a:solidFill>
                  <a:srgbClr val="CBD5E1"/>
                </a:solidFill>
                <a:latin typeface="Segoe UI"/>
              </a:rPr>
              <a:t>Horizontal scaling + load balancer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●  </a:t>
            </a:r>
            <a:r>
              <a:rPr sz="1600">
                <a:solidFill>
                  <a:srgbClr val="CBD5E1"/>
                </a:solidFill>
                <a:latin typeface="Segoe UI"/>
              </a:rPr>
              <a:t>User feedback loop for quality 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Segoe UI"/>
              </a:defRPr>
            </a:pPr>
            <a:r>
              <a:t>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Project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280160"/>
            <a:ext cx="9144000" cy="51206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onsolas"/>
              </a:defRPr>
            </a:pPr>
            <a:r>
              <a:t>bot-gpt/</a:t>
            </a:r>
            <a:br/>
            <a:r>
              <a:t>├── app/</a:t>
            </a:r>
            <a:br/>
            <a:r>
              <a:t>│   ├── main.py              ← Application entry point</a:t>
            </a:r>
            <a:br/>
            <a:r>
              <a:t>│   ├── core/                  ← Config, logger, exceptions</a:t>
            </a:r>
            <a:br/>
            <a:r>
              <a:t>│   ├── api/routes/         ← FastAPI route handlers</a:t>
            </a:r>
            <a:br/>
            <a:r>
              <a:t>│   ├── services/             ← Business logic layer</a:t>
            </a:r>
            <a:br/>
            <a:r>
              <a:t>│   ├── models/               ← SQLAlchemy ORM models</a:t>
            </a:r>
            <a:br/>
            <a:r>
              <a:t>│   ├── schemas/             ← Pydantic request/response schemas</a:t>
            </a:r>
            <a:br/>
            <a:r>
              <a:t>│   ├── db/                     ← Database session &amp; migrations</a:t>
            </a:r>
            <a:br/>
            <a:r>
              <a:t>│   └── vector_store/       ← FAISS index manager</a:t>
            </a:r>
            <a:br/>
            <a:r>
              <a:t>├── tests/                       ← Pytest test suite</a:t>
            </a:r>
            <a:br/>
            <a:r>
              <a:t>├── data/                        ← FAISS index files</a:t>
            </a:r>
            <a:br/>
            <a:r>
              <a:t>├── instructions/             ← RAG instruction prompts</a:t>
            </a:r>
            <a:br/>
            <a:r>
              <a:t>├── streamlit_app.py       ← Frontend UI</a:t>
            </a:r>
            <a:br/>
            <a:r>
              <a:t>├── requirements.txt</a:t>
            </a:r>
            <a:br/>
            <a:r>
              <a:t>├── Dockerfile</a:t>
            </a:r>
            <a:br/>
            <a:r>
              <a:t>└── .env                         ← Environment variables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8BDF8"/>
                </a:solidFill>
                <a:latin typeface="Segoe UI"/>
              </a:rPr>
              <a:t>●  </a:t>
            </a:r>
            <a:r>
              <a:rPr sz="1900">
                <a:solidFill>
                  <a:srgbClr val="CBD5E1"/>
                </a:solidFill>
                <a:latin typeface="Segoe UI"/>
              </a:rPr>
              <a:t>Full-stack AI chat application with dual modes: Open Chat &amp; RAG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8BDF8"/>
                </a:solidFill>
                <a:latin typeface="Segoe UI"/>
              </a:rPr>
              <a:t>●  </a:t>
            </a:r>
            <a:r>
              <a:rPr sz="1900">
                <a:solidFill>
                  <a:srgbClr val="CBD5E1"/>
                </a:solidFill>
                <a:latin typeface="Segoe UI"/>
              </a:rPr>
              <a:t>Clean layered architecture: API → Services → Data (SQL + Vector)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8BDF8"/>
                </a:solidFill>
                <a:latin typeface="Segoe UI"/>
              </a:rPr>
              <a:t>●  </a:t>
            </a:r>
            <a:r>
              <a:rPr sz="1900">
                <a:solidFill>
                  <a:srgbClr val="CBD5E1"/>
                </a:solidFill>
                <a:latin typeface="Segoe UI"/>
              </a:rPr>
              <a:t>RAG pipeline: Upload → Chunk → Embed → Index → Retrieve → Generate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8BDF8"/>
                </a:solidFill>
                <a:latin typeface="Segoe UI"/>
              </a:rPr>
              <a:t>●  </a:t>
            </a:r>
            <a:r>
              <a:rPr sz="1900">
                <a:solidFill>
                  <a:srgbClr val="CBD5E1"/>
                </a:solidFill>
                <a:latin typeface="Segoe UI"/>
              </a:rPr>
              <a:t>Hard cap of last 10 messages prevents context-window overflow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8BDF8"/>
                </a:solidFill>
                <a:latin typeface="Segoe UI"/>
              </a:rPr>
              <a:t>●  </a:t>
            </a:r>
            <a:r>
              <a:rPr sz="1900">
                <a:solidFill>
                  <a:srgbClr val="CBD5E1"/>
                </a:solidFill>
                <a:latin typeface="Segoe UI"/>
              </a:rPr>
              <a:t>9 REST API endpoints covering users, conversations, documents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8BDF8"/>
                </a:solidFill>
                <a:latin typeface="Segoe UI"/>
              </a:rPr>
              <a:t>●  </a:t>
            </a:r>
            <a:r>
              <a:rPr sz="1900">
                <a:solidFill>
                  <a:srgbClr val="CBD5E1"/>
                </a:solidFill>
                <a:latin typeface="Segoe UI"/>
              </a:rPr>
              <a:t>Interactive Streamlit frontend for chat, user &amp; document management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8BDF8"/>
                </a:solidFill>
                <a:latin typeface="Segoe UI"/>
              </a:rPr>
              <a:t>●  </a:t>
            </a:r>
            <a:r>
              <a:rPr sz="1900">
                <a:solidFill>
                  <a:srgbClr val="CBD5E1"/>
                </a:solidFill>
                <a:latin typeface="Segoe UI"/>
              </a:rPr>
              <a:t>Dockerized deployment with GitHub Actions CI/CD pipeline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8BDF8"/>
                </a:solidFill>
                <a:latin typeface="Segoe UI"/>
              </a:rPr>
              <a:t>●  </a:t>
            </a:r>
            <a:r>
              <a:rPr sz="1900">
                <a:solidFill>
                  <a:srgbClr val="CBD5E1"/>
                </a:solidFill>
                <a:latin typeface="Segoe UI"/>
              </a:rPr>
              <a:t>Roadmap: history summarization, custom prompts, streaming, multi-model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2286000"/>
            <a:ext cx="3657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BD5E1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BDF8"/>
                </a:solidFill>
                <a:latin typeface="Segoe UI"/>
              </a:defRPr>
            </a:pPr>
            <a:r>
              <a:t>Backend: http://127.0.0.1:8000/docs   •   Frontend: http://127.0.0.1:8501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1540</Words>
  <Application>Microsoft Office PowerPoint</Application>
  <PresentationFormat>Widescreen</PresentationFormat>
  <Paragraphs>276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Glide Cloud</cp:lastModifiedBy>
  <cp:revision>2</cp:revision>
  <dcterms:created xsi:type="dcterms:W3CDTF">2013-01-27T09:14:16Z</dcterms:created>
  <dcterms:modified xsi:type="dcterms:W3CDTF">2026-02-26T08:23:00Z</dcterms:modified>
  <cp:category/>
</cp:coreProperties>
</file>